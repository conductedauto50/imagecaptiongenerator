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79" r:id="rId6"/>
    <p:sldId id="280" r:id="rId7"/>
    <p:sldId id="281" r:id="rId8"/>
    <p:sldId id="282" r:id="rId9"/>
    <p:sldId id="283" r:id="rId10"/>
    <p:sldId id="285" r:id="rId11"/>
    <p:sldId id="286" r:id="rId12"/>
    <p:sldId id="287" r:id="rId13"/>
    <p:sldId id="284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Fine-Tuning BLIP for Stylistic Image Captioning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By Ritvik &amp; Anuj</a:t>
            </a:r>
          </a:p>
          <a:p>
            <a:pPr algn="l"/>
            <a:r>
              <a:rPr lang="en-US" dirty="0"/>
              <a:t>December 10, 2025</a:t>
            </a:r>
            <a:endParaRPr lang="en-US" sz="2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D3516-8CCD-1414-D179-DEB1CF7C28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954" y="1896951"/>
            <a:ext cx="3253740" cy="3078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DF6B-416F-F21C-3F67-F4DF0372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Gap: From Generic to Stylistic Captioning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7826-9748-39A3-A96B-DA33F6103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Problem:</a:t>
            </a:r>
            <a:r>
              <a:rPr lang="en-US" dirty="0"/>
              <a:t> Traditional image captioning models generate </a:t>
            </a:r>
            <a:r>
              <a:rPr lang="en-US" b="1" dirty="0"/>
              <a:t>generic, factual descriptions</a:t>
            </a:r>
            <a:r>
              <a:rPr lang="en-US" dirty="0"/>
              <a:t> (e.g., "A dog sitting on a couch").</a:t>
            </a:r>
          </a:p>
          <a:p>
            <a:r>
              <a:rPr lang="en-US" b="1" dirty="0"/>
              <a:t>The Goal:</a:t>
            </a:r>
            <a:r>
              <a:rPr lang="en-US" dirty="0"/>
              <a:t> To generate captions that are visually accurate </a:t>
            </a:r>
            <a:r>
              <a:rPr lang="en-US" i="1" dirty="0"/>
              <a:t>and</a:t>
            </a:r>
            <a:r>
              <a:rPr lang="en-US" dirty="0"/>
              <a:t> align with specific </a:t>
            </a:r>
            <a:r>
              <a:rPr lang="en-US" b="1" dirty="0"/>
              <a:t>stylistic preferences</a:t>
            </a:r>
            <a:r>
              <a:rPr lang="en-US" dirty="0"/>
              <a:t> (e.g., </a:t>
            </a:r>
            <a:r>
              <a:rPr lang="en-US" i="1" dirty="0"/>
              <a:t>funny</a:t>
            </a:r>
            <a:r>
              <a:rPr lang="en-US" dirty="0"/>
              <a:t>, </a:t>
            </a:r>
            <a:r>
              <a:rPr lang="en-US" i="1" dirty="0"/>
              <a:t>poetic</a:t>
            </a:r>
            <a:r>
              <a:rPr lang="en-US" dirty="0"/>
              <a:t>, </a:t>
            </a:r>
            <a:r>
              <a:rPr lang="en-US" i="1" dirty="0"/>
              <a:t>formal</a:t>
            </a:r>
            <a:r>
              <a:rPr lang="en-US" dirty="0"/>
              <a:t>, </a:t>
            </a:r>
            <a:r>
              <a:rPr lang="en-US" i="1" dirty="0"/>
              <a:t>neutral</a:t>
            </a:r>
            <a:r>
              <a:rPr lang="en-US" dirty="0"/>
              <a:t>).</a:t>
            </a:r>
          </a:p>
          <a:p>
            <a:r>
              <a:rPr lang="en-US" b="1" dirty="0"/>
              <a:t>Our Solution:</a:t>
            </a:r>
            <a:r>
              <a:rPr lang="en-US" dirty="0"/>
              <a:t> Fine-tuning a state-of-the-art VLP model (BLIP) and augmenting it with an explicit style control mechanism.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44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7370-E3AA-1117-0531-383F25A4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Foundation: Vision-Language Pre-Training (VLP)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989A7-EBA2-8F3C-B9A9-CAC2C377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47826"/>
            <a:ext cx="10353762" cy="4143374"/>
          </a:xfrm>
        </p:spPr>
        <p:txBody>
          <a:bodyPr>
            <a:normAutofit fontScale="92500" lnSpcReduction="20000"/>
          </a:bodyPr>
          <a:lstStyle/>
          <a:p>
            <a:endParaRPr lang="en-IN" b="1" dirty="0"/>
          </a:p>
          <a:p>
            <a:r>
              <a:rPr lang="en-IN" b="1" dirty="0"/>
              <a:t>CLIP (Contrastive Learning of Image Representations):</a:t>
            </a:r>
            <a:endParaRPr lang="en-IN" dirty="0"/>
          </a:p>
          <a:p>
            <a:r>
              <a:rPr lang="en-IN" dirty="0"/>
              <a:t>— </a:t>
            </a:r>
            <a:r>
              <a:rPr lang="en-IN" b="1" dirty="0"/>
              <a:t>Paradigm:</a:t>
            </a:r>
            <a:r>
              <a:rPr lang="en-IN" dirty="0"/>
              <a:t> Learning joint image-text embeddings via </a:t>
            </a:r>
            <a:r>
              <a:rPr lang="en-IN" b="1" dirty="0"/>
              <a:t>contrastive loss</a:t>
            </a:r>
            <a:r>
              <a:rPr lang="en-IN" dirty="0"/>
              <a:t> on a massive, web-sourced dataset.</a:t>
            </a:r>
          </a:p>
          <a:p>
            <a:r>
              <a:rPr lang="en-IN" dirty="0"/>
              <a:t>— </a:t>
            </a:r>
            <a:r>
              <a:rPr lang="en-IN" b="1" dirty="0"/>
              <a:t>Key Feature:</a:t>
            </a:r>
            <a:r>
              <a:rPr lang="en-IN" dirty="0"/>
              <a:t> Established robust </a:t>
            </a:r>
            <a:r>
              <a:rPr lang="en-IN" b="1" dirty="0"/>
              <a:t>zero-shot transfer</a:t>
            </a:r>
            <a:r>
              <a:rPr lang="en-IN" dirty="0"/>
              <a:t> capabilities.</a:t>
            </a:r>
          </a:p>
          <a:p>
            <a:endParaRPr lang="en-IN" dirty="0"/>
          </a:p>
          <a:p>
            <a:r>
              <a:rPr lang="en-US" b="1" dirty="0"/>
              <a:t>BLIP (Bootstrapping Language-Image Pre-training):</a:t>
            </a:r>
            <a:endParaRPr lang="en-US" dirty="0"/>
          </a:p>
          <a:p>
            <a:r>
              <a:rPr lang="en-US" dirty="0"/>
              <a:t>— </a:t>
            </a:r>
            <a:r>
              <a:rPr lang="en-US" b="1" dirty="0"/>
              <a:t>Extension:</a:t>
            </a:r>
            <a:r>
              <a:rPr lang="en-US" dirty="0"/>
              <a:t> Unified architecture for both </a:t>
            </a:r>
            <a:r>
              <a:rPr lang="en-US" b="1" dirty="0"/>
              <a:t>understanding</a:t>
            </a:r>
            <a:r>
              <a:rPr lang="en-US" dirty="0"/>
              <a:t> and </a:t>
            </a:r>
            <a:r>
              <a:rPr lang="en-US" b="1" dirty="0"/>
              <a:t>generation</a:t>
            </a:r>
            <a:r>
              <a:rPr lang="en-US" dirty="0"/>
              <a:t> tasks.</a:t>
            </a:r>
          </a:p>
          <a:p>
            <a:r>
              <a:rPr lang="en-US" dirty="0"/>
              <a:t>— </a:t>
            </a:r>
            <a:r>
              <a:rPr lang="en-US" b="1" dirty="0"/>
              <a:t>Mechanism:</a:t>
            </a:r>
            <a:r>
              <a:rPr lang="en-US" dirty="0"/>
              <a:t> Uses a </a:t>
            </a:r>
            <a:r>
              <a:rPr lang="en-US" b="1" dirty="0"/>
              <a:t>bootstrapping mechanism</a:t>
            </a:r>
            <a:r>
              <a:rPr lang="en-US" dirty="0"/>
              <a:t> that alternates between image-text matching/retrieval and generation objectives for joint optimization.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96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5ECC-C401-EDB1-7BAF-E1E76BF7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Style-Aware Methodology: Multi-Task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5013-5E11-EAD5-F49E-2536BBB5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962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Core Strategy:</a:t>
            </a:r>
            <a:r>
              <a:rPr lang="en-US" dirty="0"/>
              <a:t> Fine-tuning the pre-trained BLIP model on our style-annotated Instagram data.</a:t>
            </a:r>
          </a:p>
          <a:p>
            <a:r>
              <a:rPr lang="en-US" b="1" dirty="0"/>
              <a:t>Computational Efficiency:</a:t>
            </a:r>
            <a:r>
              <a:rPr lang="en-US" dirty="0"/>
              <a:t> Employing </a:t>
            </a:r>
            <a:r>
              <a:rPr lang="en-US" b="1" dirty="0"/>
              <a:t>Gradient Checkpointing</a:t>
            </a:r>
            <a:r>
              <a:rPr lang="en-US" dirty="0"/>
              <a:t> to enable adaptation of the large BLIP model on resource-constrained hardware (trading computation time for memory efficiency).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b="1" dirty="0"/>
              <a:t>Style Control (Multi-Task Learning):</a:t>
            </a:r>
            <a:endParaRPr lang="en-US" dirty="0"/>
          </a:p>
          <a:p>
            <a:r>
              <a:rPr lang="en-US" dirty="0"/>
              <a:t>— We attach specialized </a:t>
            </a:r>
            <a:r>
              <a:rPr lang="en-US" b="1" dirty="0"/>
              <a:t>classifier heads</a:t>
            </a:r>
            <a:r>
              <a:rPr lang="en-US" dirty="0"/>
              <a:t> to the fine-tuned BLIP representations.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— This performs </a:t>
            </a:r>
            <a:r>
              <a:rPr lang="en-US" b="1" dirty="0"/>
              <a:t>multi-label style classification</a:t>
            </a:r>
            <a:r>
              <a:rPr lang="en-US" dirty="0"/>
              <a:t> (neutral, funny, formal, poetic) as an </a:t>
            </a:r>
            <a:r>
              <a:rPr lang="en-US" b="1" dirty="0"/>
              <a:t>auxiliary task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— This dual objective provides </a:t>
            </a:r>
            <a:r>
              <a:rPr lang="en-US" b="1" dirty="0"/>
              <a:t>explicit style supervision</a:t>
            </a:r>
            <a:r>
              <a:rPr lang="en-US" dirty="0"/>
              <a:t> and improves the learned representations.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86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C86F-6A6B-487C-81B0-3ED4DA53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Real-World Stylistic Variation: The Instagram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7A90-811D-A15D-68CE-5901333C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Source:</a:t>
            </a:r>
            <a:r>
              <a:rPr lang="en-IN" dirty="0"/>
              <a:t> Instagram image-caption pairs from the </a:t>
            </a:r>
            <a:r>
              <a:rPr lang="en-IN" dirty="0" err="1"/>
              <a:t>prithvijaunjale</a:t>
            </a:r>
            <a:r>
              <a:rPr lang="en-IN" dirty="0"/>
              <a:t>/</a:t>
            </a:r>
            <a:r>
              <a:rPr lang="en-IN" dirty="0" err="1"/>
              <a:t>instagramimages</a:t>
            </a:r>
            <a:r>
              <a:rPr lang="en-IN" dirty="0"/>
              <a:t>-with-captions Kaggle repository.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Key Difference from Benchmarks:</a:t>
            </a:r>
            <a:endParaRPr lang="en-IN" dirty="0"/>
          </a:p>
          <a:p>
            <a:r>
              <a:rPr lang="en-IN" dirty="0"/>
              <a:t>— </a:t>
            </a:r>
            <a:r>
              <a:rPr lang="en-IN" b="1" dirty="0"/>
              <a:t>MS COCO:</a:t>
            </a:r>
            <a:r>
              <a:rPr lang="en-IN" dirty="0"/>
              <a:t> Emphasizes factual accuracy and generic descriptions.</a:t>
            </a:r>
          </a:p>
          <a:p>
            <a:r>
              <a:rPr lang="en-IN" dirty="0"/>
              <a:t>— </a:t>
            </a:r>
            <a:r>
              <a:rPr lang="en-IN" b="1" dirty="0"/>
              <a:t>Instagram:</a:t>
            </a:r>
            <a:r>
              <a:rPr lang="en-IN" dirty="0"/>
              <a:t> Captures authentic user communication, featuring: Informal Language and Creative Expressions.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25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2EA7-1F7E-749E-10D1-01D6C9C4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71500"/>
            <a:ext cx="10353762" cy="1257300"/>
          </a:xfrm>
        </p:spPr>
        <p:txBody>
          <a:bodyPr/>
          <a:lstStyle/>
          <a:p>
            <a:r>
              <a:rPr lang="en-US" dirty="0"/>
              <a:t>Key Results and Practical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7967-D347-0A54-9EB0-F56371150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Stylistic Generation:</a:t>
            </a:r>
            <a:r>
              <a:rPr lang="en-US" dirty="0"/>
              <a:t> The fine-tuned BLIP model successfully generates captions that match the visual content </a:t>
            </a:r>
            <a:r>
              <a:rPr lang="en-US" i="1" dirty="0"/>
              <a:t>and</a:t>
            </a:r>
            <a:r>
              <a:rPr lang="en-US" dirty="0"/>
              <a:t> adhere to the target style (neutral, funny, formal, poetic).</a:t>
            </a:r>
          </a:p>
          <a:p>
            <a:r>
              <a:rPr lang="en-US" b="1" dirty="0"/>
              <a:t>Performance:</a:t>
            </a:r>
            <a:r>
              <a:rPr lang="en-US" dirty="0"/>
              <a:t> State-of-the-art performance is expected on the style-specific captioning task, validating the use of the unified BLIP architecture.</a:t>
            </a:r>
          </a:p>
          <a:p>
            <a:r>
              <a:rPr lang="en-US" b="1" dirty="0"/>
              <a:t>Implications: Improved Engagement + Content Creation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02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2D0E-A644-96D1-0556-99653CE5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Demonstrating Style Control: The Output Difference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B118-DF6A-D846-2F8E-629A2BE13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fine-tuned model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394341-5C70-366D-AEF5-328CA3ED50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06776" y="2547647"/>
            <a:ext cx="3043238" cy="304323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FDF06-8FB1-0CCD-34BD-2EA45630B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Traditional BLIP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8BE786-4C6F-75F3-921F-E3811BC2DB1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241988" y="2547647"/>
            <a:ext cx="3043238" cy="3043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33E496-E539-C659-8234-9C2B0C7A0A28}"/>
              </a:ext>
            </a:extLst>
          </p:cNvPr>
          <p:cNvSpPr txBox="1"/>
          <p:nvPr/>
        </p:nvSpPr>
        <p:spPr>
          <a:xfrm>
            <a:off x="267166" y="5772564"/>
            <a:ext cx="6096000" cy="47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None/>
              <a:tabLst/>
              <a:defRPr/>
            </a:pPr>
            <a:r>
              <a:rPr lang="en-US" sz="240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Goudy Old Style"/>
              </a:rPr>
              <a:t>“We don’t want this to just be a game”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7EE007-6F46-6A5C-2116-F1784AB7075A}"/>
              </a:ext>
            </a:extLst>
          </p:cNvPr>
          <p:cNvSpPr txBox="1"/>
          <p:nvPr/>
        </p:nvSpPr>
        <p:spPr>
          <a:xfrm>
            <a:off x="5828834" y="5772564"/>
            <a:ext cx="6096000" cy="882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defRPr/>
            </a:pPr>
            <a:r>
              <a:rPr lang="en-US" sz="2400" dirty="0"/>
              <a:t>“A bald man in a dark blue t-shirt stands near a curtain, looking to the side.”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F4EDD8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674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62AE-379A-1422-C46A-75682C3F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Poetic Touch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5B361B-5269-76E0-FB97-DE65DF6946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31144" y="2076450"/>
            <a:ext cx="3622675" cy="3622675"/>
          </a:xfr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2249FDF2-4B98-DB18-480C-5557F3CA27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7862" y="2076450"/>
            <a:ext cx="3622675" cy="3622675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EEE4C6-FB02-E036-EA73-2FD8D3940FE9}"/>
              </a:ext>
            </a:extLst>
          </p:cNvPr>
          <p:cNvSpPr txBox="1"/>
          <p:nvPr/>
        </p:nvSpPr>
        <p:spPr>
          <a:xfrm>
            <a:off x="5791199" y="5699125"/>
            <a:ext cx="6096000" cy="882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defRPr/>
            </a:pPr>
            <a:r>
              <a:rPr lang="en-US" sz="2400" dirty="0"/>
              <a:t>“A male performer is dancing on a stage in front of a sparkling background.”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F4EDD8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3B159F-0695-5B67-A3E8-69B19376BB83}"/>
              </a:ext>
            </a:extLst>
          </p:cNvPr>
          <p:cNvSpPr txBox="1"/>
          <p:nvPr/>
        </p:nvSpPr>
        <p:spPr>
          <a:xfrm>
            <a:off x="294481" y="5772564"/>
            <a:ext cx="6096000" cy="47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“As long as you love me…”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90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AFC3D-D05E-0D5E-B727-A83FCC7B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Neutral Captioning at its Best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722AA7-161C-FE81-FDE9-EDDCE7A096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31144" y="2076450"/>
            <a:ext cx="3622675" cy="3622675"/>
          </a:xfr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AFCEF93-B16D-E936-1EF7-4A12E57C57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7862" y="2076450"/>
            <a:ext cx="3622675" cy="362267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B92AB0-F40F-AB5E-7B8B-E790DFE43AF5}"/>
              </a:ext>
            </a:extLst>
          </p:cNvPr>
          <p:cNvSpPr txBox="1"/>
          <p:nvPr/>
        </p:nvSpPr>
        <p:spPr>
          <a:xfrm>
            <a:off x="294481" y="5772564"/>
            <a:ext cx="6096000" cy="47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“Happy Sunday”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AC814-996A-54E2-661D-9696AC61D982}"/>
              </a:ext>
            </a:extLst>
          </p:cNvPr>
          <p:cNvSpPr txBox="1"/>
          <p:nvPr/>
        </p:nvSpPr>
        <p:spPr>
          <a:xfrm>
            <a:off x="6090676" y="5699125"/>
            <a:ext cx="6096000" cy="882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defRPr/>
            </a:pPr>
            <a:r>
              <a:rPr lang="en-US" sz="2400" dirty="0"/>
              <a:t>“Pink and orange flowers surrounded by green ferns.”</a:t>
            </a:r>
            <a:endParaRPr kumimoji="0" lang="en-IN" sz="24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F4EDD8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29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85A8-3629-752A-67F9-1B334526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8C706-2B14-61DE-BAA7-A9DD4B14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demonstrated that fine-tuning a unified VLP model (BLIP) with multi-task learning (style classification) is an effective and computationally efficient method for style-aware image caption generation on real-world social media data.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0D304D-0802-945F-832C-3A0C9EAA0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47068"/>
              </p:ext>
            </p:extLst>
          </p:nvPr>
        </p:nvGraphicFramePr>
        <p:xfrm>
          <a:off x="2867025" y="3590922"/>
          <a:ext cx="5334577" cy="3098124"/>
        </p:xfrm>
        <a:graphic>
          <a:graphicData uri="http://schemas.openxmlformats.org/drawingml/2006/table">
            <a:tbl>
              <a:tblPr/>
              <a:tblGrid>
                <a:gridCol w="5103710">
                  <a:extLst>
                    <a:ext uri="{9D8B030D-6E8A-4147-A177-3AD203B41FA5}">
                      <a16:colId xmlns:a16="http://schemas.microsoft.com/office/drawing/2014/main" val="7587639"/>
                    </a:ext>
                  </a:extLst>
                </a:gridCol>
                <a:gridCol w="230867">
                  <a:extLst>
                    <a:ext uri="{9D8B030D-6E8A-4147-A177-3AD203B41FA5}">
                      <a16:colId xmlns:a16="http://schemas.microsoft.com/office/drawing/2014/main" val="1386310375"/>
                    </a:ext>
                  </a:extLst>
                </a:gridCol>
              </a:tblGrid>
              <a:tr h="78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Expanding Style Space:</a:t>
                      </a:r>
                      <a:r>
                        <a:rPr lang="en-US" sz="1700" dirty="0"/>
                        <a:t> Incorporating more nuanced stylistic dimensions beyond the initial four categories (e.g., sarcastic, motivational).</a:t>
                      </a:r>
                    </a:p>
                  </a:txBody>
                  <a:tcPr marL="88446" marR="88446" marT="44223" marB="44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8446" marR="88446" marT="44223" marB="44223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38582632"/>
                  </a:ext>
                </a:extLst>
              </a:tr>
              <a:tr h="1231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 </a:t>
                      </a:r>
                      <a:r>
                        <a:rPr lang="en-US" sz="1700" b="1" dirty="0"/>
                        <a:t>Evaluation:</a:t>
                      </a:r>
                      <a:r>
                        <a:rPr lang="en-US" sz="1700" dirty="0"/>
                        <a:t> Developing more robust, human-centric evaluation methodologies for stylistic quality, as automatic metrics often fail to capture stylistic nuance.</a:t>
                      </a:r>
                    </a:p>
                  </a:txBody>
                  <a:tcPr marL="88446" marR="88446" marT="44223" marB="44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446" marR="88446" marT="44223" marB="44223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094022"/>
                  </a:ext>
                </a:extLst>
              </a:tr>
              <a:tr h="1000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Generalization:</a:t>
                      </a:r>
                      <a:r>
                        <a:rPr lang="en-US" sz="1700" dirty="0"/>
                        <a:t> Extending these techniques to other multimodal tasks and platforms beyond Instagram.</a:t>
                      </a:r>
                    </a:p>
                  </a:txBody>
                  <a:tcPr marL="88446" marR="88446" marT="44223" marB="44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8446" marR="88446" marT="44223" marB="44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89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04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8B03-D5A6-4F99-8EFE-3AA598DB9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383992"/>
            <a:ext cx="10353763" cy="2511835"/>
          </a:xfrm>
        </p:spPr>
        <p:txBody>
          <a:bodyPr/>
          <a:lstStyle/>
          <a:p>
            <a:r>
              <a:rPr lang="en-US" dirty="0"/>
              <a:t>THANK YOU!!!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162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{6AF1171E-2C6D-4BB6-8ADE-E46ADA44651D}tf55705232_win32</Template>
  <TotalTime>111</TotalTime>
  <Words>588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Goudy Old Style</vt:lpstr>
      <vt:lpstr>Wingdings 2</vt:lpstr>
      <vt:lpstr>SlateVTI</vt:lpstr>
      <vt:lpstr>Fine-Tuning BLIP for Stylistic Image Captioning</vt:lpstr>
      <vt:lpstr>The Gap: From Generic to Stylistic Captioning</vt:lpstr>
      <vt:lpstr>Foundation: Vision-Language Pre-Training (VLP)</vt:lpstr>
      <vt:lpstr>Style-Aware Methodology: Multi-Task Fine-Tuning</vt:lpstr>
      <vt:lpstr>Leveraging Real-World Stylistic Variation: The Instagram Dataset</vt:lpstr>
      <vt:lpstr>Key Results and Practical Value</vt:lpstr>
      <vt:lpstr>Demonstrating Style Control: The Output Difference</vt:lpstr>
      <vt:lpstr>A Poetic Touch</vt:lpstr>
      <vt:lpstr>Neutral Captioning at its Best</vt:lpstr>
      <vt:lpstr>Conclusion and Next Steps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Anuj Bharambe</dc:creator>
  <cp:lastModifiedBy>Anuj Bharambe</cp:lastModifiedBy>
  <cp:revision>2</cp:revision>
  <dcterms:created xsi:type="dcterms:W3CDTF">2025-12-10T06:10:59Z</dcterms:created>
  <dcterms:modified xsi:type="dcterms:W3CDTF">2025-12-10T08:02:32Z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